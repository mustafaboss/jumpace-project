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Oval 9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0" y="2226503"/>
            <a:ext cx="5917679" cy="255087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0" y="4777380"/>
            <a:ext cx="5917679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498080" y="1828800"/>
            <a:ext cx="990599" cy="22865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236208" y="3264408"/>
            <a:ext cx="3859795" cy="228660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2258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970" y="927098"/>
            <a:ext cx="6343672" cy="70986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219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6200000">
              <a:off x="3105027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/>
            <p:nvPr/>
          </p:nvSpPr>
          <p:spPr bwMode="gray">
            <a:xfrm rot="15687606">
              <a:off x="3320102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7534" y="2257588"/>
            <a:ext cx="3090672" cy="3020344"/>
          </a:xfrm>
        </p:spPr>
        <p:txBody>
          <a:bodyPr anchor="ctr"/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19261" y="2257588"/>
            <a:ext cx="3082516" cy="302034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754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440" y="2489200"/>
            <a:ext cx="3636980" cy="35306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0581" y="2489203"/>
            <a:ext cx="3636980" cy="3530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087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9918" y="2489200"/>
            <a:ext cx="3633502" cy="75929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440" y="3248490"/>
            <a:ext cx="3636980" cy="277131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0581" y="2489200"/>
            <a:ext cx="3636979" cy="75663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0581" y="3245835"/>
            <a:ext cx="3636980" cy="27739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307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6105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780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548536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2" name="Freeform 5"/>
            <p:cNvSpPr/>
            <p:nvPr/>
          </p:nvSpPr>
          <p:spPr bwMode="gray">
            <a:xfrm rot="15687606">
              <a:off x="2769747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447800"/>
            <a:ext cx="2712590" cy="1495588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8927" y="1447800"/>
            <a:ext cx="3632850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1" y="3086845"/>
            <a:ext cx="2712589" cy="2933701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26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852610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/>
            <p:nvPr/>
          </p:nvSpPr>
          <p:spPr bwMode="gray">
            <a:xfrm rot="15687606">
              <a:off x="3074559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381390"/>
            <a:ext cx="2987089" cy="157480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22909" y="1320800"/>
            <a:ext cx="2791102" cy="42164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086100"/>
            <a:ext cx="2987089" cy="24511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258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10204164">
              <a:off x="426788" y="456424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6" name="Rectangle 15"/>
            <p:cNvSpPr/>
            <p:nvPr/>
          </p:nvSpPr>
          <p:spPr>
            <a:xfrm>
              <a:off x="421503" y="402165"/>
              <a:ext cx="8327939" cy="3141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0800000">
              <a:off x="485023" y="2670079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4961454"/>
            <a:ext cx="642200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1" y="685800"/>
            <a:ext cx="6422004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0" y="5528192"/>
            <a:ext cx="6422004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1695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2780895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Rectangle 8"/>
            <p:cNvSpPr/>
            <p:nvPr/>
          </p:nvSpPr>
          <p:spPr>
            <a:xfrm>
              <a:off x="485023" y="4343399"/>
              <a:ext cx="8182128" cy="21124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>
              <a:off x="485023" y="2854646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2005" cy="169272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488023"/>
            <a:ext cx="6422005" cy="2536857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7905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430920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10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3" name="TextBox 22"/>
          <p:cNvSpPr txBox="1"/>
          <p:nvPr/>
        </p:nvSpPr>
        <p:spPr bwMode="gray">
          <a:xfrm>
            <a:off x="647430" y="651690"/>
            <a:ext cx="60159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 bwMode="gray">
          <a:xfrm>
            <a:off x="7069418" y="2900292"/>
            <a:ext cx="6190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8060" y="927099"/>
            <a:ext cx="6160385" cy="2882179"/>
          </a:xfrm>
        </p:spPr>
        <p:txBody>
          <a:bodyPr anchor="ctr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387278" y="3809278"/>
            <a:ext cx="5646143" cy="333113"/>
          </a:xfrm>
        </p:spPr>
        <p:txBody>
          <a:bodyPr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5000816"/>
            <a:ext cx="6343673" cy="101061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3855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Oval 1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/>
            <p:nvPr/>
          </p:nvSpPr>
          <p:spPr bwMode="gray">
            <a:xfrm rot="21010068">
              <a:off x="6359946" y="431124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7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7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2057400"/>
            <a:ext cx="6422005" cy="20955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1" y="5024908"/>
            <a:ext cx="6422004" cy="994891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815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3593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2489200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440" y="3147164"/>
            <a:ext cx="2313432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05614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6"/>
          </p:nvPr>
        </p:nvSpPr>
        <p:spPr>
          <a:xfrm>
            <a:off x="3408471" y="3147164"/>
            <a:ext cx="2318918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60935" y="3147164"/>
            <a:ext cx="2316625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294530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7706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345260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4179596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9055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439" y="4837558"/>
            <a:ext cx="2313432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11125" y="4179595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53189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11125" y="484820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4179596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08641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58642" y="483755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0" name="Straight Connector 39"/>
          <p:cNvCxnSpPr/>
          <p:nvPr/>
        </p:nvCxnSpPr>
        <p:spPr>
          <a:xfrm>
            <a:off x="3290019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047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21301" y="6387910"/>
            <a:ext cx="990599" cy="228659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6133" y="6387910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4097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20420" cy="6860798"/>
            <a:chOff x="-1588" y="0"/>
            <a:chExt cx="9120420" cy="6860798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4966650">
              <a:off x="4673046" y="5107506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</p:grpSp>
      <p:sp>
        <p:nvSpPr>
          <p:cNvPr id="17" name="Rectangle 16"/>
          <p:cNvSpPr/>
          <p:nvPr/>
        </p:nvSpPr>
        <p:spPr>
          <a:xfrm>
            <a:off x="414867" y="402165"/>
            <a:ext cx="4610565" cy="605367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 bwMode="gray">
          <a:xfrm rot="5400000">
            <a:off x="1299309" y="1765596"/>
            <a:ext cx="5995993" cy="3326809"/>
          </a:xfrm>
          <a:custGeom>
            <a:avLst/>
            <a:gdLst/>
            <a:ahLst/>
            <a:cxnLst/>
            <a:rect l="0" t="0" r="r" b="b"/>
            <a:pathLst>
              <a:path w="4960" h="2752">
                <a:moveTo>
                  <a:pt x="0" y="0"/>
                </a:moveTo>
                <a:lnTo>
                  <a:pt x="0" y="324"/>
                </a:lnTo>
                <a:lnTo>
                  <a:pt x="0" y="1992"/>
                </a:lnTo>
                <a:lnTo>
                  <a:pt x="0" y="2752"/>
                </a:lnTo>
                <a:lnTo>
                  <a:pt x="4960" y="2752"/>
                </a:lnTo>
                <a:lnTo>
                  <a:pt x="4960" y="1992"/>
                </a:lnTo>
                <a:lnTo>
                  <a:pt x="4960" y="324"/>
                </a:lnTo>
                <a:lnTo>
                  <a:pt x="4960" y="0"/>
                </a:lnTo>
                <a:lnTo>
                  <a:pt x="4960" y="0"/>
                </a:lnTo>
                <a:lnTo>
                  <a:pt x="4734" y="34"/>
                </a:lnTo>
                <a:lnTo>
                  <a:pt x="4510" y="64"/>
                </a:lnTo>
                <a:lnTo>
                  <a:pt x="4284" y="90"/>
                </a:lnTo>
                <a:lnTo>
                  <a:pt x="4060" y="114"/>
                </a:lnTo>
                <a:lnTo>
                  <a:pt x="3836" y="132"/>
                </a:lnTo>
                <a:lnTo>
                  <a:pt x="3614" y="146"/>
                </a:lnTo>
                <a:lnTo>
                  <a:pt x="3392" y="158"/>
                </a:lnTo>
                <a:lnTo>
                  <a:pt x="3174" y="166"/>
                </a:lnTo>
                <a:lnTo>
                  <a:pt x="2960" y="172"/>
                </a:lnTo>
                <a:lnTo>
                  <a:pt x="2748" y="174"/>
                </a:lnTo>
                <a:lnTo>
                  <a:pt x="2542" y="174"/>
                </a:lnTo>
                <a:lnTo>
                  <a:pt x="2338" y="174"/>
                </a:lnTo>
                <a:lnTo>
                  <a:pt x="2140" y="170"/>
                </a:lnTo>
                <a:lnTo>
                  <a:pt x="1948" y="164"/>
                </a:lnTo>
                <a:lnTo>
                  <a:pt x="1762" y="156"/>
                </a:lnTo>
                <a:lnTo>
                  <a:pt x="1582" y="148"/>
                </a:lnTo>
                <a:lnTo>
                  <a:pt x="1410" y="138"/>
                </a:lnTo>
                <a:lnTo>
                  <a:pt x="1244" y="128"/>
                </a:lnTo>
                <a:lnTo>
                  <a:pt x="1088" y="116"/>
                </a:lnTo>
                <a:lnTo>
                  <a:pt x="938" y="104"/>
                </a:lnTo>
                <a:lnTo>
                  <a:pt x="668" y="78"/>
                </a:lnTo>
                <a:lnTo>
                  <a:pt x="438" y="54"/>
                </a:lnTo>
                <a:lnTo>
                  <a:pt x="254" y="34"/>
                </a:lnTo>
                <a:lnTo>
                  <a:pt x="116" y="1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8" name="Freeform 5"/>
          <p:cNvSpPr>
            <a:spLocks noEditPoints="1"/>
          </p:cNvSpPr>
          <p:nvPr/>
        </p:nvSpPr>
        <p:spPr bwMode="gray">
          <a:xfrm>
            <a:off x="0" y="0"/>
            <a:ext cx="9144000" cy="6858000"/>
          </a:xfrm>
          <a:custGeom>
            <a:avLst/>
            <a:gdLst/>
            <a:ahLst/>
            <a:cxnLst/>
            <a:rect l="0" t="0" r="r" b="b"/>
            <a:pathLst>
              <a:path w="5760" h="4320">
                <a:moveTo>
                  <a:pt x="0" y="0"/>
                </a:moveTo>
                <a:lnTo>
                  <a:pt x="0" y="4320"/>
                </a:lnTo>
                <a:lnTo>
                  <a:pt x="5760" y="4320"/>
                </a:lnTo>
                <a:lnTo>
                  <a:pt x="5760" y="0"/>
                </a:lnTo>
                <a:lnTo>
                  <a:pt x="0" y="0"/>
                </a:lnTo>
                <a:close/>
                <a:moveTo>
                  <a:pt x="5444" y="4004"/>
                </a:moveTo>
                <a:lnTo>
                  <a:pt x="324" y="4004"/>
                </a:lnTo>
                <a:lnTo>
                  <a:pt x="324" y="324"/>
                </a:lnTo>
                <a:lnTo>
                  <a:pt x="5444" y="324"/>
                </a:lnTo>
                <a:lnTo>
                  <a:pt x="5444" y="400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74928" y="1447799"/>
            <a:ext cx="1113516" cy="4572001"/>
          </a:xfrm>
        </p:spPr>
        <p:txBody>
          <a:bodyPr vert="eaVert" anchor="ctr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738" y="1447799"/>
            <a:ext cx="4416936" cy="45720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546" y="6365498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80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21010068">
              <a:off x="6359946" y="179029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5" name="Freeform 24"/>
            <p:cNvSpPr/>
            <p:nvPr/>
          </p:nvSpPr>
          <p:spPr bwMode="gray">
            <a:xfrm>
              <a:off x="485023" y="1856450"/>
              <a:ext cx="8173954" cy="4535226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440" y="927099"/>
            <a:ext cx="6345260" cy="7098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4382" y="2489200"/>
            <a:ext cx="6345260" cy="353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74443" y="6365498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 b="1" i="0">
                <a:solidFill>
                  <a:schemeClr val="accen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0843" y="6365497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223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b="0" i="0" kern="120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83464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6012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3444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0876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0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25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4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Construction Rules RAG Assistant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PDF‑Grounded Chatbot for Field‑Ready Decisions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&amp;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Field teams struggle to quickly find construction rules for real scenarios (setbacks, signage, safety, etc.).</a:t>
            </a:r>
          </a:p>
          <a:p>
            <a:r>
              <a:t>Rules are buried in long PDFs and workers depend on verbal guidance or screenshots.</a:t>
            </a:r>
          </a:p>
          <a:p>
            <a:r>
              <a:t>Non‑compliance leads to delays, redesign, and safety risk.</a:t>
            </a:r>
          </a:p>
          <a:p>
            <a:r>
              <a:t>Goal: a fast, reliable assistant that answers strictly from official rule documents.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Retrieval Augmented Generation (RAG) chatbot focused on construction rules and regulations.</a:t>
            </a:r>
          </a:p>
          <a:p>
            <a:r>
              <a:t>Users describe a scenario in natural English; the assistant returns only the rules that apply.</a:t>
            </a:r>
          </a:p>
          <a:p>
            <a:r>
              <a:t>All answers are grounded in uploaded PDFs such as MUTCD or local authority rulebooks.</a:t>
            </a:r>
          </a:p>
          <a:p>
            <a:r>
              <a:t>If no rule is found in the PDF, the assistant clearly states that instead of guessing.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High‑Level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Streamlit web UI for supervisors and engineers to chat with the assistant.</a:t>
            </a:r>
          </a:p>
          <a:p>
            <a:r>
              <a:t>Python backend using LangChain to orchestrate retrieval and generation.</a:t>
            </a:r>
          </a:p>
          <a:p>
            <a:r>
              <a:t>Pinecone vector database storing embeddings of all rulebook chunks with page metadata.</a:t>
            </a:r>
          </a:p>
          <a:p>
            <a:r>
              <a:t>OpenAI‑compatible models for embeddings and chat, with low temperature for precise answers.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Set up a clean project structure with app, ingestion script, data folder, and requirements.</a:t>
            </a:r>
          </a:p>
          <a:p>
            <a:r>
              <a:t>Configured secure environment variables for all API keys and model names.</a:t>
            </a:r>
          </a:p>
          <a:p>
            <a:r>
              <a:t>Created a repeatable ingestion pipeline to load PDFs, chunk text, and index vectors in Pinecone.</a:t>
            </a:r>
          </a:p>
          <a:p>
            <a:r>
              <a:t>Built the RAG chain in LangChain and tuned prompts for safety and structure.</a:t>
            </a:r>
          </a:p>
          <a:p>
            <a:r>
              <a:t>Designed a modern, dashboard‑style Streamlit UI tailored for real construction workflows.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Ingestion &amp; Indexing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Loaded rulebooks page‑by‑page using PyPDFLoader and attached file + page metadata.</a:t>
            </a:r>
          </a:p>
          <a:p>
            <a:r>
              <a:t>Chunked text with RecursiveCharacterTextSplitter (≈800–1200 tokens, overlapping context).</a:t>
            </a:r>
          </a:p>
          <a:p>
            <a:r>
              <a:t>Generated embeddings with text‑embedding‑3‑small for semantic search.</a:t>
            </a:r>
          </a:p>
          <a:p>
            <a:r>
              <a:t>Stored vectors in a Pinecone index (rag‑index) with cosine similarity for fast retrieval.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Retrieval &amp; Safety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Retriever always pulls context from the Pinecone index built over the PDFs.</a:t>
            </a:r>
          </a:p>
          <a:p>
            <a:r>
              <a:t>System prompt forbids external knowledge and guessing; answers must stay within context.</a:t>
            </a:r>
          </a:p>
          <a:p>
            <a:r>
              <a:t>If context does not contain an applicable rule, response is: "This scenario’s relevant rule is not present in this PDF."</a:t>
            </a:r>
          </a:p>
          <a:p>
            <a:r>
              <a:t>Responses follow a fixed structure: scenario understanding, applicable rules, worker instructions, and page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User Experience &amp; UI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Streamlit interface styled as a modern OS‑like dashboard with gradient header and tabs.</a:t>
            </a:r>
          </a:p>
          <a:p>
            <a:r>
              <a:t>Dedicated chat panel with a single prominent call‑to‑action: Get Applicable Rules.</a:t>
            </a:r>
          </a:p>
          <a:p>
            <a:r>
              <a:t>Side panel with on‑site tips explaining how to phrase scenarios for best retrieval.</a:t>
            </a:r>
          </a:p>
          <a:p>
            <a:r>
              <a:t>Theme‑independent 3D/glass styling that looks premium on both light and dark modes.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Flow for the Client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Start with a realistic scenario (e.g., residential building on a main road‑facing plot).</a:t>
            </a:r>
          </a:p>
          <a:p>
            <a:r>
              <a:t>Show how the assistant explains the scenario, lists only relevant rules, and adds worker steps.</a:t>
            </a:r>
          </a:p>
          <a:p>
            <a:r>
              <a:t>Highlight page references so every answer is traceable back to the official rulebook.</a:t>
            </a:r>
          </a:p>
          <a:p>
            <a:r>
              <a:t>Demonstrate a case where no rule exists in the PDF to prove the system does not hallucinate.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Benefits for the Client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Faster, more confident decisions on site with immediate access to applicable rules.</a:t>
            </a:r>
          </a:p>
          <a:p>
            <a:r>
              <a:t>Reduced compliance risk because every answer can be traced to a specific PDF page.</a:t>
            </a:r>
          </a:p>
          <a:p>
            <a:r>
              <a:t>On‑site friendly instructions that translate regulations into concrete actions for workers.</a:t>
            </a:r>
          </a:p>
          <a:p>
            <a:r>
              <a:t>Scalable foundation that can support additional rulebooks, cities, and authorities over time.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Support multiple authorities or jurisdictions with rulebook selection per project.</a:t>
            </a:r>
          </a:p>
          <a:p>
            <a:r>
              <a:t>Add user roles and an audit trail for compliance and internal QA.</a:t>
            </a:r>
          </a:p>
          <a:p>
            <a:r>
              <a:t>Allow engineers to give feedback on answers and continuously improve retrieval quality.</a:t>
            </a:r>
          </a:p>
          <a:p>
            <a:r>
              <a:t>Integrate with existing project management or permit systems for end‑to‑end workflows.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</TotalTime>
  <Words>681</Words>
  <Application>Microsoft Office PowerPoint</Application>
  <PresentationFormat>On-screen Show (4:3)</PresentationFormat>
  <Paragraphs>53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Wingdings 3</vt:lpstr>
      <vt:lpstr>Ion Boardroom</vt:lpstr>
      <vt:lpstr>Construction Rules RAG Assistant</vt:lpstr>
      <vt:lpstr>Problem &amp; Motivation</vt:lpstr>
      <vt:lpstr>Solution Overview</vt:lpstr>
      <vt:lpstr>High‑Level Architecture</vt:lpstr>
      <vt:lpstr>Implementation Journey</vt:lpstr>
      <vt:lpstr>Data Ingestion &amp; Indexing</vt:lpstr>
      <vt:lpstr>Retrieval &amp; Safety Controls</vt:lpstr>
      <vt:lpstr>User Experience &amp; UI</vt:lpstr>
      <vt:lpstr>Demo Flow for the Client</vt:lpstr>
      <vt:lpstr>Benefits for the Client</vt:lpstr>
      <vt:lpstr>Future Enhancements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Office</cp:lastModifiedBy>
  <cp:revision>2</cp:revision>
  <dcterms:created xsi:type="dcterms:W3CDTF">2013-01-27T09:14:16Z</dcterms:created>
  <dcterms:modified xsi:type="dcterms:W3CDTF">2026-02-27T06:48:47Z</dcterms:modified>
  <cp:category/>
</cp:coreProperties>
</file>